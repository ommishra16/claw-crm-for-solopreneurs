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2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49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9165C-6148-4912-9C46-75FE6B9EA87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DE88F-770C-4B59-A1C0-CD1D8058F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52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one-line pitch: Claw replaces the four disconnected tools a solo practitioner uses today with one app built for their phone.</a:t>
            </a:r>
          </a:p>
          <a:p/>
          <a:p>
            <a:r>
              <a:t>Keep this slide short — the marks are in the explanation, the demo and the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double-booking story. It is the most concrete failure and the one the whole product is built to prevent.</a:t>
            </a:r>
          </a:p>
          <a:p/>
          <a:p>
            <a:r>
              <a:t>The four failures are not independent: they all follow from the negotiation channel being disconnected from the record channel. A slot agreed in WhatsApp never reaches the calendar, so the same hour gets promised twice.</a:t>
            </a:r>
          </a:p>
          <a:p/>
          <a:p>
            <a:r>
              <a:t>Market size: 7.7 million gig workers in 2020–21, projected to 23.5 million by 2029–30 (NITI Aayog). If asked why this segment specifically: they cannot afford admin staff or per-seat SaaS, so operational friction converts directly into lost income.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five primary objectives were met, plus three secondary ones: WhatsApp reminders, inactive-client recovery, and the active/inactive service catalogue.</a:t>
            </a:r>
          </a:p>
          <a:p/>
          <a:p>
            <a:r>
              <a:t>The exclusions are deliberate product decisions, not things we ran out of time for. Client self-booking in particular: research showed this market still prefers to negotiate over WhatsApp, so a booking portal would have been built for a behaviour that does not exist yet.</a:t>
            </a:r>
          </a:p>
          <a:p/>
          <a:p>
            <a:r>
              <a:t>The diagram is the real screen flow from the report, Figure 2.3.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is not that these tools are bad. Each is good at what it does. It is that a solo practitioner would need three of them, and the seams between them are exactly where the failures on the previous slide happen.</a:t>
            </a:r>
          </a:p>
          <a:p/>
          <a:p>
            <a:r>
              <a:t>Calendly has added lightweight contact records and team scheduling analytics, but it holds no relationship history and reports nothing on revenue, service mix or completion rates.</a:t>
            </a:r>
          </a:p>
          <a:p/>
          <a:p>
            <a:r>
              <a:t>If pushed on why not just use Calendly plus a spreadsheet: that IS the status quo, and it is what produces double bookings.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a separate backend rather than calling Supabase directly with row-level security: recurring generation and conflict detection are far clearer in server-side JavaScript than in SQL policies, and the password-reset email needs a secret that cannot ship inside a mobile binary.</a:t>
            </a:r>
          </a:p>
          <a:p/>
          <a:p>
            <a:r>
              <a:t>The user_id filter on every query is the entire authorisation model. There is no cross-user sharing by design, which keeps it simple enough to verify by inspection.</a:t>
            </a:r>
          </a:p>
          <a:p/>
          <a:p>
            <a:r>
              <a:t>Six tables, with a composite index on (user_id, date_time) serving the three hottest reads: the dashboard, the client profile and the analytics aggregation.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choice has an alternative we rejected: Flutter (the team knows TypeScript), MongoDB (the data is relational, clients own appointments own services), Firebase (no joins and weak aggregation, which would have made analytics painful).</a:t>
            </a:r>
          </a:p>
          <a:p/>
          <a:p>
            <a:r>
              <a:t>TanStack Query is the one worth calling out. Its cache invalidation removed an entire class of stale-data bugs we had been fighting by hand, and its optimistic updates are why a swipe feels instant.</a:t>
            </a:r>
          </a:p>
          <a:p/>
          <a:p>
            <a:r>
              <a:t>The stack diagram mirrors the four bullets: client, API, database, and the quality tooling that runs over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stop talking on and switch to the live device.</a:t>
            </a:r>
          </a:p>
          <a:p/>
          <a:p>
            <a:r>
              <a:t>Demo order that works: dashboard, book an appointment, deliberately book a clashing slot to show the conflict being refused, swipe one complete, then analytics.</a:t>
            </a:r>
          </a:p>
          <a:p/>
          <a:p>
            <a:r>
              <a:t>The conflict refusal is the moment worth engineering the demo around. It is the product's central promise and takes ten seconds to show.</a:t>
            </a:r>
          </a:p>
          <a:p/>
          <a:p>
            <a:r>
              <a:t>Four taps replaces a five-to-ten message WhatsApp negotiation. End time is calculated from the service duration rather than entered.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the two kinds of testing if asked: 49 manual cases cover the system end to end on a real device; 27 automated tests cover the pure scheduling logic, the overlap rule and recurring date generation.</a:t>
            </a:r>
          </a:p>
          <a:p/>
          <a:p>
            <a:r>
              <a:t>Writing the automated tests found two real defects that manual testing had missed. The recurring cap was set at 52 and so refused a weekly booking running a full calendar year, which needs 53 because both endpoints are included. It is now 53. Monthly series starting on the 31st overflow short months, producing 3 March from a run beginning 31 January; that behaviour is asserted in the tests so any future change to it is deliberate.</a:t>
            </a:r>
          </a:p>
          <a:p/>
          <a:p>
            <a:r>
              <a:t>Both are recorded in the report rather than quietly fixed. If asked what we would do differently: write the automated tests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honestly on limitations. Each was a decision with a reason, and the report records them in §6.3.</a:t>
            </a:r>
          </a:p>
          <a:p/>
          <a:p>
            <a:r>
              <a:t>Month-end overflow: 31 January has no equivalent in February. Stale UI was solved with TanStack Query invalidation after every mutation.</a:t>
            </a:r>
          </a:p>
          <a:p/>
          <a:p>
            <a:r>
              <a:t>The strongest answer on payments: integrating a gateway is a compliance and reconciliation problem, not a coding one, and it would have consumed the time that went into making scheduling correct. Research also showed this market negotiates payment over WhatsApp already.</a:t>
            </a:r>
          </a:p>
          <a:p/>
          <a:p>
            <a:r>
              <a:t>Push notifications are limited inside Expo Go specifically. A production build runs the full notification system as designed, so it is a platform constraint, not a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point that the most valuable feature is the least technically impressive: conflict detection is a single interval-overlap query, and it solves the most damaging problem these users have.</a:t>
            </a:r>
          </a:p>
          <a:p/>
          <a:p>
            <a:r>
              <a:t>The broader lesson was starting from the user's actual context rather than the technology: WhatsApp deep links instead of building chat, INR by default, and gestures designed for use between sessions rather than at a desk.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86C9-2BBA-55D0-BD4B-F8B71E2EC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DE6BA-4AE7-822A-85CC-92BCCD9D6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7BC8C-59D5-7186-B66E-4FCA9652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99DD2-136E-B005-965D-33285448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D1715-6A40-FAAC-BD2C-F7BE86FD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46724B-C345-9FA0-667D-03555D2E5C7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838B-2600-6588-AFF2-968994DAE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70" y="349886"/>
            <a:ext cx="6995160" cy="930665"/>
          </a:xfrm>
        </p:spPr>
        <p:txBody>
          <a:bodyPr/>
          <a:lstStyle>
            <a:lvl1pPr>
              <a:defRPr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DF390-C3B8-3F09-F40D-85696C04C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825625"/>
            <a:ext cx="849249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B22D00-115B-264C-C896-345894A04A0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5B671F-CF2E-7C44-EADA-4E56CCF35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1295791"/>
            <a:ext cx="3348990" cy="103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D85C2F-C4CC-B3E8-DC0D-F4312B489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040" y="405951"/>
            <a:ext cx="133350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4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8431-87F8-377B-002F-800822078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B87CB-EC0D-AC03-913E-540103ABA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777A5-783A-D063-67E6-8CB761EE5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78A05-536D-01B1-B02E-017A1923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BE06D-95DC-C9AA-9F94-50F934BD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90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2BEB-1201-DD36-5A62-6C8322CB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EC01D-6BFB-5359-E1CB-F8393053E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294D6-52BE-8815-B5BE-B9B642695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BC93A-F94E-2DCF-1576-F9D87AD02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D2396-B2FC-F8D4-BB47-05AFB0AB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62123-4901-0C6F-544E-F6AA6832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55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A608-63E2-19B2-AE4D-57CF441C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F64A4-C3C4-ACA3-1D1F-D208F7678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ACB0F-31D6-4E31-9EF4-FAEE2ECF2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E2D7D-E306-0374-7D3C-62E8D219A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EC196-EF39-B64C-5B82-DC01BD711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B66E0-B7D7-BF74-CC5D-317C5567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C2566B-2AE2-3440-B5E5-557FA335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C1E798-0C77-EC9C-37B4-4B7560BD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93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68898-CA2D-FC1D-F85A-F4B61498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0DC15-F701-899A-1878-CE763E82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2D74A-4601-E794-8FA7-BB7605702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1FF0C-0D43-1690-F1D9-BD21A784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9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575516-D291-7DF6-999B-D95626683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BCA8A-5542-72D5-4D01-7901049E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685FB-F8C4-60A1-F7B2-63C03C82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4FAF-C8EA-6C50-C03C-6BE244FB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37747-0EAE-BF6C-0F71-1239CCED5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81633-599E-0C57-85A4-85AF2FB3E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C1136-1C3C-B33A-D05E-2A6D49A0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F106D-088F-C9E1-A0D5-22F8B83B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A12DD-DCE1-05C2-B9F7-01056302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2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F12A-BEE5-D30E-A3A1-942D5B5C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D5563-6459-67DE-4D69-30053A9D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B9A17-FD7C-16CA-4EFC-03BD86855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6D420-EC2E-8ABC-B2F2-CA9F4972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A5612-CD5C-0B26-0604-34950D11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7A36B-AF9A-508A-1438-B7C8B159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2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38F9-C26A-A887-8868-A89E5C7C2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23C57-B3EA-971D-87BC-DF8B8D3CA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8FFD4-A931-751C-7707-99B41CCD9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6FB5B-4974-F079-60B2-005270B27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AA4EC-E107-73DE-0D25-2B1868B4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74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63CB0-1DDE-C006-45DD-C4E5E4942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15BB5-31FC-01A3-455F-2FCDAC103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4DB4B-80C3-F444-BB89-BAB7C213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FC3CA-91F1-49B3-33BE-B13C2112E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99E0A-B830-F842-ADDC-5FD15C99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324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38481-3E3D-E956-CD00-8CB791685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BA1C8-6503-E09A-694B-6C359C0B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84468-691A-BB42-58A0-82A6AA10D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BE529-10D3-2454-82D4-495C91F77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C2B87-66F7-C8F0-A8BC-5A8446D4B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9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9806C-DE76-F844-DADC-8CEF0CA4E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DB0453-4AD2-5D01-DB88-163762890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75" y="1743795"/>
            <a:ext cx="3290488" cy="1254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AD43B1-8B94-26CD-2746-B4F4D815FE52}"/>
              </a:ext>
            </a:extLst>
          </p:cNvPr>
          <p:cNvSpPr/>
          <p:nvPr/>
        </p:nvSpPr>
        <p:spPr>
          <a:xfrm>
            <a:off x="4415831" y="1743795"/>
            <a:ext cx="45639" cy="1388569"/>
          </a:xfrm>
          <a:prstGeom prst="rect">
            <a:avLst/>
          </a:prstGeom>
          <a:solidFill>
            <a:srgbClr val="97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B774B-E0DA-8EFA-E658-16AE37904B08}"/>
              </a:ext>
            </a:extLst>
          </p:cNvPr>
          <p:cNvSpPr txBox="1">
            <a:spLocks/>
          </p:cNvSpPr>
          <p:nvPr/>
        </p:nvSpPr>
        <p:spPr>
          <a:xfrm>
            <a:off x="594360" y="3218688"/>
            <a:ext cx="7955279" cy="7132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r>
              <a:rPr lang="en-US" sz="1800" dirty="0">
                <a:solidFill>
                  <a:srgbClr val="9700FF"/>
                </a:solidFill>
              </a:rPr>
              <a:t>Claw – A Mobile-First Operations Hub</a:t>
            </a:r>
          </a:p>
          <a:p>
            <a:r>
              <a:rPr sz="1800">
                <a:solidFill>
                  <a:srgbClr val="9700FF"/>
                </a:solidFill>
              </a:rPr>
              <a:t>for Solo Service Providers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150D07-4CCE-759D-C6B1-03B0AE969E9D}"/>
              </a:ext>
            </a:extLst>
          </p:cNvPr>
          <p:cNvSpPr txBox="1">
            <a:spLocks/>
          </p:cNvSpPr>
          <p:nvPr/>
        </p:nvSpPr>
        <p:spPr>
          <a:xfrm>
            <a:off x="4695825" y="1775939"/>
            <a:ext cx="3520300" cy="7619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9933FF"/>
                </a:solidFill>
                <a:latin typeface="Aptos" panose="020B0004020202020204" pitchFamily="34" charset="0"/>
              </a:rPr>
              <a:t>Presented by:</a:t>
            </a:r>
          </a:p>
          <a:p>
            <a:r>
              <a:rPr sz="1200" b="1">
                <a:solidFill>
                  <a:srgbClr val="9933FF"/>
                </a:solidFill>
                <a:latin typeface="Aptos"/>
              </a:rPr>
              <a:t>Om Mishra · Yash Agarwal · Divyanshu Pandey</a:t>
            </a:r>
          </a:p>
          <a:p>
            <a:r>
              <a:rPr sz="1200" b="1">
                <a:solidFill>
                  <a:srgbClr val="9933FF"/>
                </a:solidFill>
                <a:latin typeface="Aptos"/>
              </a:rPr>
              <a:t>2023ebcs786 · 2023ebcs753 · 2023ebcs728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C2E371-EB80-F24B-2B7E-C0C2DAFD6A88}"/>
              </a:ext>
            </a:extLst>
          </p:cNvPr>
          <p:cNvSpPr txBox="1">
            <a:spLocks/>
          </p:cNvSpPr>
          <p:nvPr/>
        </p:nvSpPr>
        <p:spPr>
          <a:xfrm>
            <a:off x="2655681" y="4821080"/>
            <a:ext cx="3520300" cy="7619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/>
                <a:latin typeface="Aptos" panose="020B0004020202020204" pitchFamily="34" charset="0"/>
              </a:rPr>
              <a:t>Under the guidance of</a:t>
            </a:r>
          </a:p>
          <a:p>
            <a:r>
              <a:rPr sz="1200" b="1">
                <a:latin typeface="Aptos"/>
              </a:rPr>
              <a:t>Swapnil Saurav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B134D2-B9AA-E395-01BF-48B58E2DB43F}"/>
              </a:ext>
            </a:extLst>
          </p:cNvPr>
          <p:cNvSpPr txBox="1">
            <a:spLocks/>
          </p:cNvSpPr>
          <p:nvPr/>
        </p:nvSpPr>
        <p:spPr>
          <a:xfrm>
            <a:off x="594360" y="4005072"/>
            <a:ext cx="7955279" cy="36576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solidFill>
                  <a:prstClr val="black"/>
                </a:solidFill>
                <a:latin typeface="Aptos SemiBold" panose="020B0004020202020204" pitchFamily="34" charset="0"/>
              </a:rPr>
              <a:t>BSc Computer Science  ·  Group 82 (CodingNinjas)  ·  2025–26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1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72768"/>
            <a:ext cx="4480560" cy="4526280"/>
          </a:xfrm>
        </p:spPr>
        <p:txBody>
          <a:bodyPr wrap="square" anchor="ctr"/>
          <a:lstStyle/>
          <a:p>
            <a:pPr>
              <a:spcAft>
                <a:spcPts val="1000"/>
              </a:spcAft>
            </a:pPr>
            <a:r>
              <a:rPr sz="1600"/>
              <a:t>WhatsApp, Calendar, Sheets, memory</a:t>
            </a:r>
          </a:p>
          <a:p>
            <a:pPr>
              <a:spcAft>
                <a:spcPts val="1000"/>
              </a:spcAft>
            </a:pPr>
            <a:r>
              <a:rPr sz="1600"/>
              <a:t>Double bookings</a:t>
            </a:r>
          </a:p>
          <a:p>
            <a:pPr>
              <a:spcAft>
                <a:spcPts val="1000"/>
              </a:spcAft>
            </a:pPr>
            <a:r>
              <a:rPr sz="1600"/>
              <a:t>Revenue leakage</a:t>
            </a:r>
          </a:p>
          <a:p>
            <a:pPr>
              <a:spcAft>
                <a:spcPts val="1000"/>
              </a:spcAft>
            </a:pPr>
            <a:r>
              <a:rPr sz="1600"/>
              <a:t>5–10 messages per appointment</a:t>
            </a:r>
          </a:p>
          <a:p>
            <a:pPr>
              <a:spcAft>
                <a:spcPts val="1000"/>
              </a:spcAft>
            </a:pPr>
            <a:r>
              <a:rPr sz="1600"/>
              <a:t>No business visibility</a:t>
            </a:r>
          </a:p>
        </p:txBody>
      </p:sp>
      <p:pic>
        <p:nvPicPr>
          <p:cNvPr id="4" name="Picture 3" descr="slide2-fragmented-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2511369"/>
            <a:ext cx="3547872" cy="26490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72768"/>
            <a:ext cx="4480560" cy="4526280"/>
          </a:xfrm>
        </p:spPr>
        <p:txBody>
          <a:bodyPr wrap="square" anchor="ctr"/>
          <a:lstStyle/>
          <a:p>
            <a:pPr>
              <a:spcAft>
                <a:spcPts val="1000"/>
              </a:spcAft>
            </a:pPr>
            <a:r>
              <a:rPr sz="1600"/>
              <a:t>Client records with full history</a:t>
            </a:r>
          </a:p>
          <a:p>
            <a:pPr>
              <a:spcAft>
                <a:spcPts val="1000"/>
              </a:spcAft>
            </a:pPr>
            <a:r>
              <a:rPr sz="1600"/>
              <a:t>Scheduling without negotiation</a:t>
            </a:r>
          </a:p>
          <a:p>
            <a:pPr>
              <a:spcAft>
                <a:spcPts val="1000"/>
              </a:spcAft>
            </a:pPr>
            <a:r>
              <a:rPr sz="1600"/>
              <a:t>Revenue and trend analytics</a:t>
            </a:r>
          </a:p>
          <a:p>
            <a:pPr>
              <a:spcAft>
                <a:spcPts val="1000"/>
              </a:spcAft>
            </a:pPr>
            <a:r>
              <a:rPr sz="1600"/>
              <a:t>Recurring appointments</a:t>
            </a:r>
          </a:p>
          <a:p>
            <a:pPr>
              <a:spcAft>
                <a:spcPts val="1000"/>
              </a:spcAft>
            </a:pPr>
            <a:r>
              <a:rPr sz="1600"/>
              <a:t>One-handed gesture interface</a:t>
            </a:r>
          </a:p>
          <a:p>
            <a:pPr>
              <a:spcAft>
                <a:spcPts val="1000"/>
              </a:spcAft>
            </a:pPr>
            <a:r>
              <a:rPr sz="1600"/>
              <a:t>Out of scope: payments, self-booking, offline</a:t>
            </a:r>
          </a:p>
        </p:txBody>
      </p:sp>
      <p:pic>
        <p:nvPicPr>
          <p:cNvPr id="4" name="Picture 3" descr="07-new-appoin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045" y="1572768"/>
            <a:ext cx="204363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 /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72768"/>
            <a:ext cx="4480560" cy="4526280"/>
          </a:xfrm>
        </p:spPr>
        <p:txBody>
          <a:bodyPr wrap="square" anchor="ctr"/>
          <a:lstStyle/>
          <a:p>
            <a:pPr>
              <a:spcAft>
                <a:spcPts val="1000"/>
              </a:spcAft>
            </a:pPr>
            <a:r>
              <a:rPr sz="1600"/>
              <a:t>Calendly, Zoho: scheduling only, no CRM</a:t>
            </a:r>
          </a:p>
          <a:p>
            <a:pPr>
              <a:spcAft>
                <a:spcPts val="1000"/>
              </a:spcAft>
            </a:pPr>
            <a:r>
              <a:rPr sz="1600"/>
              <a:t>HubSpot, Pipedrive: built for sales teams</a:t>
            </a:r>
          </a:p>
          <a:p>
            <a:pPr>
              <a:spcAft>
                <a:spcPts val="1000"/>
              </a:spcAft>
            </a:pPr>
            <a:r>
              <a:rPr sz="1600"/>
              <a:t>SimplePractice: USD-priced, healthcare</a:t>
            </a:r>
          </a:p>
          <a:p>
            <a:pPr>
              <a:spcAft>
                <a:spcPts val="1000"/>
              </a:spcAft>
            </a:pPr>
            <a:r>
              <a:rPr sz="1600"/>
              <a:t/>
            </a:r>
          </a:p>
          <a:p>
            <a:pPr>
              <a:spcAft>
                <a:spcPts val="1000"/>
              </a:spcAft>
            </a:pPr>
            <a:r>
              <a:rPr sz="1600"/>
              <a:t>Gap: no affordable mobile hub for India</a:t>
            </a:r>
          </a:p>
        </p:txBody>
      </p:sp>
      <p:pic>
        <p:nvPicPr>
          <p:cNvPr id="4" name="Picture 3" descr="slide4-market-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2061972"/>
            <a:ext cx="3547872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72768"/>
            <a:ext cx="4480560" cy="4526280"/>
          </a:xfrm>
        </p:spPr>
        <p:txBody>
          <a:bodyPr wrap="square" anchor="ctr"/>
          <a:lstStyle/>
          <a:p>
            <a:pPr>
              <a:spcAft>
                <a:spcPts val="1000"/>
              </a:spcAft>
            </a:pPr>
            <a:r>
              <a:rPr sz="1600"/>
              <a:t>React Native · Express REST · PostgreSQL</a:t>
            </a:r>
          </a:p>
          <a:p>
            <a:pPr>
              <a:spcAft>
                <a:spcPts val="1000"/>
              </a:spcAft>
            </a:pPr>
            <a:r>
              <a:rPr sz="1600"/>
              <a:t>Stateless JWT in Secure Store</a:t>
            </a:r>
          </a:p>
          <a:p>
            <a:pPr>
              <a:spcAft>
                <a:spcPts val="1000"/>
              </a:spcAft>
            </a:pPr>
            <a:r>
              <a:rPr sz="1600"/>
              <a:t>27 endpoints across six resources</a:t>
            </a:r>
          </a:p>
          <a:p>
            <a:pPr>
              <a:spcAft>
                <a:spcPts val="1000"/>
              </a:spcAft>
            </a:pPr>
            <a:r>
              <a:rPr sz="1600"/>
              <a:t>Every query filters by user_id</a:t>
            </a:r>
          </a:p>
        </p:txBody>
      </p:sp>
      <p:pic>
        <p:nvPicPr>
          <p:cNvPr id="4" name="Picture 3" descr="fig-2.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007" y="1572768"/>
            <a:ext cx="2299713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72768"/>
            <a:ext cx="4480560" cy="4526280"/>
          </a:xfrm>
        </p:spPr>
        <p:txBody>
          <a:bodyPr wrap="square" anchor="ctr"/>
          <a:lstStyle/>
          <a:p>
            <a:pPr>
              <a:spcAft>
                <a:spcPts val="1000"/>
              </a:spcAft>
            </a:pPr>
            <a:r>
              <a:rPr sz="1600"/>
              <a:t>Mobile: React Native, Expo, TypeScript</a:t>
            </a:r>
          </a:p>
          <a:p>
            <a:pPr>
              <a:spcAft>
                <a:spcPts val="1000"/>
              </a:spcAft>
            </a:pPr>
            <a:r>
              <a:rPr sz="1600"/>
              <a:t>UI: NativeWind, Reanimated, Gestures</a:t>
            </a:r>
          </a:p>
          <a:p>
            <a:pPr>
              <a:spcAft>
                <a:spcPts val="1000"/>
              </a:spcAft>
            </a:pPr>
            <a:r>
              <a:rPr sz="1600"/>
              <a:t>State: TanStack Query</a:t>
            </a:r>
          </a:p>
          <a:p>
            <a:pPr>
              <a:spcAft>
                <a:spcPts val="1000"/>
              </a:spcAft>
            </a:pPr>
            <a:r>
              <a:rPr sz="1600"/>
              <a:t>Backend: Express, Zod, JWT, bcrypt</a:t>
            </a:r>
          </a:p>
          <a:p>
            <a:pPr>
              <a:spcAft>
                <a:spcPts val="1000"/>
              </a:spcAft>
            </a:pPr>
            <a:r>
              <a:rPr sz="1600"/>
              <a:t>Database: PostgreSQL on Supabase</a:t>
            </a:r>
          </a:p>
          <a:p>
            <a:pPr>
              <a:spcAft>
                <a:spcPts val="1000"/>
              </a:spcAft>
            </a:pPr>
            <a:r>
              <a:rPr sz="1600"/>
              <a:t>Quality: Jest, ESLint, GitHub Actions</a:t>
            </a:r>
          </a:p>
        </p:txBody>
      </p:sp>
      <p:pic>
        <p:nvPicPr>
          <p:cNvPr id="4" name="Picture 3" descr="slide6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2061972"/>
            <a:ext cx="3547872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/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72768"/>
            <a:ext cx="4480560" cy="4526280"/>
          </a:xfrm>
        </p:spPr>
        <p:txBody>
          <a:bodyPr wrap="square" anchor="ctr"/>
          <a:lstStyle/>
          <a:p>
            <a:pPr>
              <a:spcAft>
                <a:spcPts val="1000"/>
              </a:spcAft>
            </a:pPr>
            <a:r>
              <a:rPr sz="1600"/>
              <a:t>Twelve modules, all implemented</a:t>
            </a:r>
          </a:p>
          <a:p>
            <a:pPr>
              <a:spcAft>
                <a:spcPts val="1000"/>
              </a:spcAft>
            </a:pPr>
            <a:r>
              <a:rPr sz="1600"/>
              <a:t>Booking in four taps</a:t>
            </a:r>
          </a:p>
          <a:p>
            <a:pPr>
              <a:spcAft>
                <a:spcPts val="1000"/>
              </a:spcAft>
            </a:pPr>
            <a:r>
              <a:rPr sz="1600"/>
              <a:t>Overlap checked before every write</a:t>
            </a:r>
          </a:p>
          <a:p>
            <a:pPr>
              <a:spcAft>
                <a:spcPts val="1000"/>
              </a:spcAft>
            </a:pPr>
            <a:r>
              <a:rPr sz="1600"/>
              <a:t>Recurring series, all-or-nothing</a:t>
            </a:r>
          </a:p>
          <a:p>
            <a:pPr>
              <a:spcAft>
                <a:spcPts val="1000"/>
              </a:spcAft>
            </a:pPr>
            <a:r>
              <a:rPr sz="1600"/>
              <a:t>Swipe to complete or cancel</a:t>
            </a:r>
          </a:p>
          <a:p>
            <a:pPr>
              <a:spcAft>
                <a:spcPts val="1000"/>
              </a:spcAft>
            </a:pPr>
            <a:r>
              <a:rPr sz="1600"/>
              <a:t>WhatsApp deep links</a:t>
            </a:r>
          </a:p>
        </p:txBody>
      </p:sp>
      <p:pic>
        <p:nvPicPr>
          <p:cNvPr id="4" name="Picture 3" descr="10-swipe-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045" y="1572768"/>
            <a:ext cx="204363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72768"/>
            <a:ext cx="4480560" cy="4526280"/>
          </a:xfrm>
        </p:spPr>
        <p:txBody>
          <a:bodyPr wrap="square" anchor="ctr"/>
          <a:lstStyle/>
          <a:p>
            <a:pPr>
              <a:spcAft>
                <a:spcPts val="1000"/>
              </a:spcAft>
            </a:pPr>
            <a:r>
              <a:rPr sz="1600"/>
              <a:t>49 manual test cases, 100% pass</a:t>
            </a:r>
          </a:p>
          <a:p>
            <a:pPr>
              <a:spcAft>
                <a:spcPts val="1000"/>
              </a:spcAft>
            </a:pPr>
            <a:r>
              <a:rPr sz="1600"/>
              <a:t>27 automated tests on the scheduling core</a:t>
            </a:r>
          </a:p>
          <a:p>
            <a:pPr>
              <a:spcAft>
                <a:spcPts val="1000"/>
              </a:spcAft>
            </a:pPr>
            <a:r>
              <a:rPr sz="1600"/>
              <a:t>Every performance target met or exceeded</a:t>
            </a:r>
          </a:p>
          <a:p>
            <a:pPr>
              <a:spcAft>
                <a:spcPts val="1000"/>
              </a:spcAft>
            </a:pPr>
            <a:r>
              <a:rPr sz="1600"/>
              <a:t>No crashes; 53-appointment series</a:t>
            </a:r>
          </a:p>
          <a:p>
            <a:pPr>
              <a:spcAft>
                <a:spcPts val="1000"/>
              </a:spcAft>
            </a:pPr>
            <a:r>
              <a:rPr sz="1600"/>
              <a:t>All six Phase 1 risks mitigated</a:t>
            </a:r>
          </a:p>
        </p:txBody>
      </p:sp>
      <p:pic>
        <p:nvPicPr>
          <p:cNvPr id="4" name="Picture 3" descr="slide8-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828559"/>
            <a:ext cx="3547872" cy="40146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72768"/>
            <a:ext cx="8138160" cy="4526280"/>
          </a:xfrm>
        </p:spPr>
        <p:txBody>
          <a:bodyPr wrap="square" anchor="ctr"/>
          <a:lstStyle/>
          <a:p>
            <a:pPr>
              <a:spcAft>
                <a:spcPts val="1000"/>
              </a:spcAft>
            </a:pPr>
            <a:r>
              <a:rPr sz="2100"/>
              <a:t>Month-end overflow in recurring series</a:t>
            </a:r>
          </a:p>
          <a:p>
            <a:pPr>
              <a:spcAft>
                <a:spcPts val="1000"/>
              </a:spcAft>
            </a:pPr>
            <a:r>
              <a:rPr sz="2100"/>
              <a:t>Stale UI after mutations</a:t>
            </a:r>
          </a:p>
          <a:p>
            <a:pPr>
              <a:spcAft>
                <a:spcPts val="1000"/>
              </a:spcAft>
            </a:pPr>
            <a:r>
              <a:rPr sz="2100"/>
              <a:t>Scope discipline through MoSCoW</a:t>
            </a:r>
          </a:p>
          <a:p>
            <a:pPr>
              <a:spcAft>
                <a:spcPts val="1000"/>
              </a:spcAft>
            </a:pPr>
            <a:r>
              <a:rPr sz="2100"/>
              <a:t>No payments; UPI or cash</a:t>
            </a:r>
          </a:p>
          <a:p>
            <a:pPr>
              <a:spcAft>
                <a:spcPts val="1000"/>
              </a:spcAft>
            </a:pPr>
            <a:r>
              <a:rPr sz="2100"/>
              <a:t>No offline mode</a:t>
            </a:r>
          </a:p>
          <a:p>
            <a:pPr>
              <a:spcAft>
                <a:spcPts val="1000"/>
              </a:spcAft>
            </a:pPr>
            <a:r>
              <a:rPr sz="2100"/>
              <a:t>Push limited inside Expo 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72768"/>
            <a:ext cx="4480560" cy="4526280"/>
          </a:xfrm>
        </p:spPr>
        <p:txBody>
          <a:bodyPr wrap="square" anchor="ctr"/>
          <a:lstStyle/>
          <a:p>
            <a:pPr>
              <a:spcAft>
                <a:spcPts val="1000"/>
              </a:spcAft>
            </a:pPr>
            <a:r>
              <a:rPr sz="1600"/>
              <a:t>Working product, installable today</a:t>
            </a:r>
          </a:p>
          <a:p>
            <a:pPr>
              <a:spcAft>
                <a:spcPts val="1000"/>
              </a:spcAft>
            </a:pPr>
            <a:r>
              <a:rPr sz="1600"/>
              <a:t>Five primary, three secondary objectives met</a:t>
            </a:r>
          </a:p>
          <a:p>
            <a:pPr>
              <a:spcAft>
                <a:spcPts val="1000"/>
              </a:spcAft>
            </a:pPr>
            <a:r>
              <a:rPr sz="1600"/>
              <a:t>Short term: self-booking, UPI, release</a:t>
            </a:r>
          </a:p>
          <a:p>
            <a:pPr>
              <a:spcAft>
                <a:spcPts val="1000"/>
              </a:spcAft>
            </a:pPr>
            <a:r>
              <a:rPr sz="1600"/>
              <a:t>Medium term: offline sync, invoices, Hindi</a:t>
            </a:r>
          </a:p>
          <a:p>
            <a:pPr>
              <a:spcAft>
                <a:spcPts val="1000"/>
              </a:spcAft>
            </a:pPr>
            <a:r>
              <a:rPr sz="1600"/>
              <a:t>Long term: AI insights, team accounts</a:t>
            </a:r>
          </a:p>
        </p:txBody>
      </p:sp>
      <p:pic>
        <p:nvPicPr>
          <p:cNvPr id="4" name="Picture 3" descr="03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045" y="1572768"/>
            <a:ext cx="2043638" cy="4526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apstone Meeting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Meeting</Template>
  <TotalTime>81</TotalTime>
  <Words>113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Aptos SemiBold</vt:lpstr>
      <vt:lpstr>Arial</vt:lpstr>
      <vt:lpstr>Arial Narrow</vt:lpstr>
      <vt:lpstr>Capstone Meeting</vt:lpstr>
      <vt:lpstr>PowerPoint Presentation</vt:lpstr>
      <vt:lpstr>Problem Statement</vt:lpstr>
      <vt:lpstr>Objectives &amp; Scope</vt:lpstr>
      <vt:lpstr>Existing System / Literature Review</vt:lpstr>
      <vt:lpstr>Proposed System Architecture</vt:lpstr>
      <vt:lpstr>Tools &amp; Technologies</vt:lpstr>
      <vt:lpstr>Implementation / Demo</vt:lpstr>
      <vt:lpstr>Results &amp; Analysis</vt:lpstr>
      <vt:lpstr>Challenges &amp; Limitations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Praveen Kumar</cp:lastModifiedBy>
  <cp:revision>3</cp:revision>
  <dcterms:created xsi:type="dcterms:W3CDTF">2013-01-27T09:14:16Z</dcterms:created>
  <dcterms:modified xsi:type="dcterms:W3CDTF">2026-02-10T05:45:53Z</dcterms:modified>
  <cp:category/>
</cp:coreProperties>
</file>